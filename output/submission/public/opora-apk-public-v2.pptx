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728efd2edf43a8" /><Relationship Type="http://schemas.openxmlformats.org/officeDocument/2006/relationships/extended-properties" Target="/docProps/app.xml" Id="R2a174965088a43ab" /><Relationship Type="http://schemas.openxmlformats.org/officeDocument/2006/relationships/officeDocument" Target="/ppt/presentation.xml" Id="R119aec53fe0e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62cbf80874dbf"/>
  </p:sldMasterIdLst>
  <p:notesMasterIdLst>
    <p:notesMasterId xmlns:r="http://schemas.openxmlformats.org/officeDocument/2006/relationships" r:id="R1ab33bde97c746ad"/>
  </p:notesMasterIdLst>
  <p:sldIdLst>
    <p:sldId xmlns:r="http://schemas.openxmlformats.org/officeDocument/2006/relationships" id="256" r:id="Rcbb274603b784a09"/>
    <p:sldId xmlns:r="http://schemas.openxmlformats.org/officeDocument/2006/relationships" id="257" r:id="Rd6d483134310488f"/>
    <p:sldId xmlns:r="http://schemas.openxmlformats.org/officeDocument/2006/relationships" id="258" r:id="R6d8e66b38cfb472b"/>
    <p:sldId xmlns:r="http://schemas.openxmlformats.org/officeDocument/2006/relationships" id="259" r:id="Rd473adf246a14a99"/>
    <p:sldId xmlns:r="http://schemas.openxmlformats.org/officeDocument/2006/relationships" id="260" r:id="Reb9abc11d35b48aa"/>
    <p:sldId xmlns:r="http://schemas.openxmlformats.org/officeDocument/2006/relationships" id="261" r:id="Rea35e466b78548de"/>
    <p:sldId xmlns:r="http://schemas.openxmlformats.org/officeDocument/2006/relationships" id="262" r:id="R4b3036e7acc94ed9"/>
    <p:sldId xmlns:r="http://schemas.openxmlformats.org/officeDocument/2006/relationships" id="263" r:id="R85a6c7cb814140e1"/>
    <p:sldId xmlns:r="http://schemas.openxmlformats.org/officeDocument/2006/relationships" id="264" r:id="Rd84f953b72334877"/>
    <p:sldId xmlns:r="http://schemas.openxmlformats.org/officeDocument/2006/relationships" id="265" r:id="R0f1f9339c0a74aee"/>
    <p:sldId xmlns:r="http://schemas.openxmlformats.org/officeDocument/2006/relationships" id="266" r:id="Rddbf6ad6ce094f67"/>
    <p:sldId xmlns:r="http://schemas.openxmlformats.org/officeDocument/2006/relationships" id="267" r:id="Ree702fbd15d547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a1dc62404d4f53" /><Relationship Type="http://schemas.openxmlformats.org/officeDocument/2006/relationships/slideMaster" Target="/ppt/slideMasters/slideMaster1.xml" Id="Rbe362cbf80874dbf" /><Relationship Type="http://schemas.openxmlformats.org/officeDocument/2006/relationships/notesMaster" Target="/ppt/notesMasters/notesMaster1.xml" Id="R1ab33bde97c746ad" /><Relationship Type="http://schemas.openxmlformats.org/officeDocument/2006/relationships/presProps" Target="/ppt/presProps.xml" Id="R41b356f45a124024" /><Relationship Type="http://schemas.openxmlformats.org/officeDocument/2006/relationships/tableStyles" Target="/ppt/tableStyles.xml" Id="Rde9ec022c9fc490b" /><Relationship Type="http://schemas.openxmlformats.org/officeDocument/2006/relationships/slide" Target="/ppt/slides/slide1.xml" Id="Rcbb274603b784a09" /><Relationship Type="http://schemas.openxmlformats.org/officeDocument/2006/relationships/slide" Target="/ppt/slides/slide2.xml" Id="Rd6d483134310488f" /><Relationship Type="http://schemas.openxmlformats.org/officeDocument/2006/relationships/slide" Target="/ppt/slides/slide3.xml" Id="R6d8e66b38cfb472b" /><Relationship Type="http://schemas.openxmlformats.org/officeDocument/2006/relationships/slide" Target="/ppt/slides/slide4.xml" Id="Rd473adf246a14a99" /><Relationship Type="http://schemas.openxmlformats.org/officeDocument/2006/relationships/slide" Target="/ppt/slides/slide5.xml" Id="Reb9abc11d35b48aa" /><Relationship Type="http://schemas.openxmlformats.org/officeDocument/2006/relationships/slide" Target="/ppt/slides/slide6.xml" Id="Rea35e466b78548de" /><Relationship Type="http://schemas.openxmlformats.org/officeDocument/2006/relationships/slide" Target="/ppt/slides/slide7.xml" Id="R4b3036e7acc94ed9" /><Relationship Type="http://schemas.openxmlformats.org/officeDocument/2006/relationships/slide" Target="/ppt/slides/slide8.xml" Id="R85a6c7cb814140e1" /><Relationship Type="http://schemas.openxmlformats.org/officeDocument/2006/relationships/slide" Target="/ppt/slides/slide9.xml" Id="Rd84f953b72334877" /><Relationship Type="http://schemas.openxmlformats.org/officeDocument/2006/relationships/slide" Target="/ppt/slides/slide10.xml" Id="R0f1f9339c0a74aee" /><Relationship Type="http://schemas.openxmlformats.org/officeDocument/2006/relationships/slide" Target="/ppt/slides/slide11.xml" Id="Rddbf6ad6ce094f67" /><Relationship Type="http://schemas.openxmlformats.org/officeDocument/2006/relationships/slide" Target="/ppt/slides/slide12.xml" Id="Ree702fbd15d5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9f9e19c17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ae98aaf6d4b54" /><Relationship Type="http://schemas.openxmlformats.org/officeDocument/2006/relationships/notesMaster" Target="/ppt/notesMasters/notesMaster1.xml" Id="R8032474930c944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750c222bc4bb0" /><Relationship Type="http://schemas.openxmlformats.org/officeDocument/2006/relationships/notesMaster" Target="/ppt/notesMasters/notesMaster1.xml" Id="R2303529323e9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27caf8c39a438e" /><Relationship Type="http://schemas.openxmlformats.org/officeDocument/2006/relationships/notesMaster" Target="/ppt/notesMasters/notesMaster1.xml" Id="R74d3562a6286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2c23058f27425e" /><Relationship Type="http://schemas.openxmlformats.org/officeDocument/2006/relationships/notesMaster" Target="/ppt/notesMasters/notesMaster1.xml" Id="Rc203221a389440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8cc0f6a7874f88" /><Relationship Type="http://schemas.openxmlformats.org/officeDocument/2006/relationships/notesMaster" Target="/ppt/notesMasters/notesMaster1.xml" Id="Rc8f90c8e0c2b47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804a4c717b442c" /><Relationship Type="http://schemas.openxmlformats.org/officeDocument/2006/relationships/notesMaster" Target="/ppt/notesMasters/notesMaster1.xml" Id="Rf81693b5bf99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0112fa70b5429b" /><Relationship Type="http://schemas.openxmlformats.org/officeDocument/2006/relationships/notesMaster" Target="/ppt/notesMasters/notesMaster1.xml" Id="Rabca24bddafe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be1b733e954d88" /><Relationship Type="http://schemas.openxmlformats.org/officeDocument/2006/relationships/notesMaster" Target="/ppt/notesMasters/notesMaster1.xml" Id="R93cb4f16193644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a06696be424f7e" /><Relationship Type="http://schemas.openxmlformats.org/officeDocument/2006/relationships/notesMaster" Target="/ppt/notesMasters/notesMaster1.xml" Id="R247eea1b9dbf46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2e4ee8a060405e" /><Relationship Type="http://schemas.openxmlformats.org/officeDocument/2006/relationships/notesMaster" Target="/ppt/notesMasters/notesMaster1.xml" Id="Rdcffa589dac04c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f18e0dcf494f3f" /><Relationship Type="http://schemas.openxmlformats.org/officeDocument/2006/relationships/notesMaster" Target="/ppt/notesMasters/notesMaster1.xml" Id="R8a02a52455e444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9f78ac97e74960" /><Relationship Type="http://schemas.openxmlformats.org/officeDocument/2006/relationships/notesMaster" Target="/ppt/notesMasters/notesMaster1.xml" Id="R5f20c32405f9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Рабочее название проекта. Состав команды пользователем не передан. Статус и границы версии: docs/RELEASE-AUDIT.md.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исходное задание, стр. 5, 8, 18; официальный раздел https://minagro.saratov.gov.ru/subsidii/; сохранённые комплекты data/official/sources. Интервью не проводились. Оценки затрат времени пока являются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Локальная браузерная проверка 18.09.2026. Скриншот docs/assets/release-plan-phone.png, ширина 390 px. Это браузер, не мобильный клиент MAX. Демонстрируются синтетические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Серверная реализация backend/app/matching.py, тесты test_core.py/test_official.py/test_release.py. Предварительное сопоставление анкеты не гарантирует одобрение. Все числовые примеры на слайде учебные.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backend/app/models.py; неизменяемость опубликованной версии и старого плана проверена интеграционными тестами. docs/RELEASE-AUDIT.md.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ARCHITECTURE.md, разделы 16–18. FastAPI обслуживает API и статический React. MAX подготовлен, но не подключён. Один PostgreSQL и модульный монолит.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источник: https://minagro.saratov.gov.ru/subsidii/. Реестр data/official/catalog.json, docs/CATALOG-REVIEW.md. Исследование 18.09.2026, полная содержательная проверка не завершена. Портал promote.budget.gov.ru недоступен проверяющей среде.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docs/RELEASE-AUDIT.md и docs/PROGRESS.md. 38 pytest на отдельной PostgreSQL; 14 шагов DATA-API; 10 сценариев локального TLS. Сборка --no-cache: 65,9 с, базовые образы уже загружены. Это результат данного компьютера, не универсальная гарантия скорости.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Исходное задание стр. 7, 9–11: живой MAX и HTTPS API обязательны. MAX preflight: конфигурация отсутствует. Отчёт пользователя о телефоне на момент подготовки не получен.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Предложение, а не выполненный пилот. Участники, сроки, партнёры и числовые целевые показатели не согласованы. Метод оценки: сравнение одинаковых задач с исходными порталами и навигатором, оценка условий независимым редактором.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Кандидат для следующего региона: Пензенская область, как проектное предложение. Исследование её мер не проводилось. Потребуется адаптация справочников и фиксированных названий региона в интерфейсе, а не простое копирование саратовских правил.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Исходное задание пользователя «Эффективный бизнес», 22 страницы. Официальные веб-страницы проверены 18.09.2026. Точные локальные результаты см. docs/RELEASE-AUDIT.md.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6e2ff5b2a45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97aa8cde440ea" /><Relationship Type="http://schemas.openxmlformats.org/officeDocument/2006/relationships/slideLayout" Target="/ppt/slideLayouts/slideLayout1.xml" Id="Rb43884bb38dc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884bb38dc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7a1999ed2402c" /><Relationship Type="http://schemas.openxmlformats.org/officeDocument/2006/relationships/notesSlide" Target="/ppt/notesSlides/notesSlide1.xml" Id="Rb81d8e20c16c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b29c9f3b74428" /><Relationship Type="http://schemas.openxmlformats.org/officeDocument/2006/relationships/notesSlide" Target="/ppt/notesSlides/notesSlide2.xml" Id="R6013f49b87964b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f13754e34459" /><Relationship Type="http://schemas.openxmlformats.org/officeDocument/2006/relationships/image" Target="/ppt/media/image.jpeg" Id="Rc5db72ba380b4d78" /><Relationship Type="http://schemas.openxmlformats.org/officeDocument/2006/relationships/notesSlide" Target="/ppt/notesSlides/notesSlide3.xml" Id="Rf69f0b1b643d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1c131586a4ef5" /><Relationship Type="http://schemas.openxmlformats.org/officeDocument/2006/relationships/notesSlide" Target="/ppt/notesSlides/notesSlide4.xml" Id="R4f3cdd604e5045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ea9c27649465d" /><Relationship Type="http://schemas.openxmlformats.org/officeDocument/2006/relationships/notesSlide" Target="/ppt/notesSlides/notesSlide5.xml" Id="R2c1b16cd0a7f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d3bd091c4a6f" /><Relationship Type="http://schemas.openxmlformats.org/officeDocument/2006/relationships/notesSlide" Target="/ppt/notesSlides/notesSlide6.xml" Id="Rac6466642b44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1c2d3fdc944d6" /><Relationship Type="http://schemas.openxmlformats.org/officeDocument/2006/relationships/notesSlide" Target="/ppt/notesSlides/notesSlide7.xml" Id="R09a87be5c5784d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244a440774409" /><Relationship Type="http://schemas.openxmlformats.org/officeDocument/2006/relationships/notesSlide" Target="/ppt/notesSlides/notesSlide8.xml" Id="Ra2699618249245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d6995d3341c8" /><Relationship Type="http://schemas.openxmlformats.org/officeDocument/2006/relationships/notesSlide" Target="/ppt/notesSlides/notesSlide9.xml" Id="R51d07937d69542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5ab439a1c4605" /><Relationship Type="http://schemas.openxmlformats.org/officeDocument/2006/relationships/notesSlide" Target="/ppt/notesSlides/notesSlide10.xml" Id="Rc251db1efb9e4d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687cbce8470d" /><Relationship Type="http://schemas.openxmlformats.org/officeDocument/2006/relationships/notesSlide" Target="/ppt/notesSlides/notesSlide11.xml" Id="R681d83a16ff14b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ba091924f4cc9" /><Relationship Type="http://schemas.openxmlformats.org/officeDocument/2006/relationships/notesSlide" Target="/ppt/notesSlides/notesSlide12.xml" Id="Rda3463ee97d242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90163-697B-4721-9C5F-D3A3608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8D8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8CC"/>
                </a:solidFill>
                <a:latin typeface="Arial"/>
                <a:ea typeface="Arial"/>
                <a:cs typeface="Arial"/>
              </a:rPr>
              <a:t>01     ОПОРА АПК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8BD9-7A33-43AB-B992-BCC90F1B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344FE-E626-4976-A19D-74F8323C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DFE9D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FE9DC"/>
                </a:solidFill>
                <a:latin typeface="Arial"/>
                <a:ea typeface="Arial"/>
                <a:cs typeface="Arial"/>
              </a:rPr>
              <a:t>Навигация по мерам поддержки</a:t>
            </a:r>
          </a:p>
          <a:p xmlns:a="http://schemas.openxmlformats.org/drawingml/2006/main">
            <a:pPr>
              <a:defRPr sz="3150" b="0">
                <a:solidFill>
                  <a:srgbClr val="DFE9D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FE9DC"/>
                </a:solidFill>
                <a:latin typeface="Arial"/>
                <a:ea typeface="Arial"/>
                <a:cs typeface="Arial"/>
              </a:rPr>
              <a:t>для фермеров Саратовской области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1506F-2611-4E0F-84CC-E94B3DA6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D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DCD"/>
                </a:solidFill>
                <a:latin typeface="Arial"/>
                <a:ea typeface="Arial"/>
                <a:cs typeface="Arial"/>
              </a:rPr>
              <a:t>Локальный MVP / 18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18307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AC416-9E4A-4F09-9F84-ED61CBE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Пользователь и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3DE8-DCFC-42DC-ADEA-7A70700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02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4924D-83B2-4E6B-AA63-E209ECC4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КФХ и ИП в сельском хозяйстве</a:t>
            </a:r>
          </a:p>
          <a:p xmlns:a="http://schemas.openxmlformats.org/drawingml/2006/main">
            <a:pPr>
              <a:defRPr sz="2625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Саратовской области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08CA-021F-4600-9997-EDF48BC6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Хозяйство планирует оборудование или расходы и хочет понять, какая поддержка подходит и что подготовить.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C820E-CAB4-4F76-997F-D6321404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Что приходится сопоставлять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12375-954F-4504-9222-B97BB08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05100"/>
            <a:ext cx="4953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Правила программы и поправки к ним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165D5-1DB8-4CE6-BA44-F1B8600B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953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Условия конкретного отбора и сроки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D86D8-B325-441F-82F4-C754739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53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Категорию заявителя и документы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B0AA6-B7D7-4F93-9F7F-DEC5B37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Наблюдение по документам. Интервью и замер времени ещё нужны.</a:t>
            </a:r>
          </a:p>
        </p:txBody>
      </p:sp>
    </p:spTree>
    <p:extLst>
      <p:ext uri="{BB962C8B-B14F-4D97-AF65-F5344CB8AC3E}">
        <p14:creationId xmlns:p14="http://schemas.microsoft.com/office/powerpoint/2010/main" val="32200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0737E-805B-451F-A810-C1A9B2C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Основной 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0F945-8659-435D-B3AD-37A86B2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03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02535-4E52-468E-879C-7C78C95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01  Анкета хозяйства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F200-06F8-410C-8759-863424FB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02  Подбор с объяснениями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CCA32-3FCF-4ECE-B6A2-92996E6E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03  Карточка меры и отбора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852D3-D005-4112-9A89-35C95F3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04  Сохранённый план документов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3A51B-A454-4D7E-A2E4-90AE068C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05  Официальный ресурс подачи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b72ba380b4d78"/>
          <a:stretch xmlns:a="http://schemas.openxmlformats.org/drawingml/2006/main"/>
        </p:blipFill>
        <p:spPr>
          <a:xfrm xmlns:a="http://schemas.openxmlformats.org/drawingml/2006/main">
            <a:off x="8853910" y="1524000"/>
            <a:ext cx="2199430" cy="4762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02C72-104E-4FF6-80A6-C635484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Отметка документа сохраняется после повторного входа.</a:t>
            </a:r>
          </a:p>
          <a:p xmlns:a="http://schemas.openxmlformats.org/drawingml/2006/main">
            <a:pPr>
              <a:defRPr sz="1725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Переход на портал не означает подачу заявки.</a:t>
            </a:r>
          </a:p>
        </p:txBody>
      </p:sp>
    </p:spTree>
    <p:extLst>
      <p:ext uri="{BB962C8B-B14F-4D97-AF65-F5344CB8AC3E}">
        <p14:creationId xmlns:p14="http://schemas.microsoft.com/office/powerpoint/2010/main" val="2067169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CFBD9-B55B-4CCD-A94B-03822AE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Как объясняется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81A9-0093-4057-BD25-D9A0D14C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04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8642-5572-493A-B571-F4B6ED5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601BA-0A89-4567-8046-AD30FD02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Ответ соответствует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AC441-AA9A-4A6E-8D88-FE1122C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3381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Регион 64 совпал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 условием учебной меры.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117EC-168C-41A1-9A32-9715987D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1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F7A2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F7A29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2CA19-8FD9-4D0C-8CBB-C7AF3375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Нужно уточнить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2ACAD-968E-47B8-94A5-170E2365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4775"/>
            <a:ext cx="3381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Статус заявителя неизвестен.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Соответствие не подтверждаем.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A8EBA-F7E7-4A33-B82B-7D7448E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9853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985343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78861-56F3-42FA-B7A0-CCDE85F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Есть ограничение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CC8F6-CAA9-4E5E-A0E0-1A9DDE60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14775"/>
            <a:ext cx="3381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Регион не совпал.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Показываем причину отказа.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F3CAA-C797-466B-BB11-030BDD9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Доступность приёма проверяется отдельно: срок, часовой пояс, версия и свежесть источника.</a:t>
            </a:r>
          </a:p>
        </p:txBody>
      </p:sp>
    </p:spTree>
    <p:extLst>
      <p:ext uri="{BB962C8B-B14F-4D97-AF65-F5344CB8AC3E}">
        <p14:creationId xmlns:p14="http://schemas.microsoft.com/office/powerpoint/2010/main" val="815463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A2BA3-632C-4FD1-BAFB-1586BE23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Мера, редакция и отбор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02886-8DE1-44AB-9158-993F39DE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05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30732-BACC-4881-ACEE-682FEBB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Мера поддержки: постоянная карточка программы.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3884D-0C85-4063-9275-9E4B6FB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Версия условий: конкретная редакция правил и источников.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2660E-9520-40C2-BD2F-751C787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Отбор: срок, канал подачи и ссылка на применимую версию.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B94E3-0D5F-4583-96B6-4C22A884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План хранит версию условий. При новой публикации пользователь получает предупреждение о повторной проверке.</a:t>
            </a:r>
          </a:p>
        </p:txBody>
      </p:sp>
    </p:spTree>
    <p:extLst>
      <p:ext uri="{BB962C8B-B14F-4D97-AF65-F5344CB8AC3E}">
        <p14:creationId xmlns:p14="http://schemas.microsoft.com/office/powerpoint/2010/main" val="2006627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601B2-ECD0-48A6-9584-54C431D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Архитектура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8E697-52B5-4B52-AD6B-B99102E9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06     ОПОРА АПК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React + TypeScript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Анкета, карточки, планы, редактор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Python + FastAPI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Сессии, правила, версии, права доступа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PostgreSQL + Alembic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Профили, планы, снимки проверок, очередь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Адаптер MAX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Подпись запуска, webhook, повторы событий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DE2C2-501E-4973-8D55-58414E5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Docker Compose запускает локальные компоненты.</a:t>
            </a:r>
          </a:p>
          <a:p xmlns:a="http://schemas.openxmlformats.org/drawingml/2006/main">
            <a:pPr>
              <a:defRPr sz="19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Для размещения подготовлен отдельный Nginx с HTTPS.</a:t>
            </a:r>
          </a:p>
        </p:txBody>
      </p:sp>
    </p:spTree>
    <p:extLst>
      <p:ext uri="{BB962C8B-B14F-4D97-AF65-F5344CB8AC3E}">
        <p14:creationId xmlns:p14="http://schemas.microsoft.com/office/powerpoint/2010/main" val="199392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E6A39-3F79-4521-977B-34425B22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Данные и 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5CE0F-211A-4807-8359-59BFA599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07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6ABF3-FB2D-487C-92E1-18EBC7D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DA0BD-6788-41E3-B756-3E22878A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учебных 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7ED04-268C-4F02-9CE2-08EA2FA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Опубликованы только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для локальной демонстрации.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3ABC7-9CDF-4302-936F-17D8485D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AF7A29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AF7A2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5D604-C086-4BC0-AE80-879A9DBA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908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реальных черновиков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9D9AF-7EF4-4B82-BED4-22FAC31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Есть документы и отборы.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Пробелы указаны редактору.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F55FB-6FF9-4ADB-9B94-E992DB3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3355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50E44-71DD-4C25-A895-C5333AA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908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реальных публикаций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E529D-DE54-4EE4-A919-6443D2CA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Неполные условия</a:t>
            </a:r>
          </a:p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не попадают в подбор.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C813C-95C6-4C29-A176-D814BB7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Источник и дата исследования видны отдельно от подтверждения условий.</a:t>
            </a:r>
          </a:p>
        </p:txBody>
      </p:sp>
    </p:spTree>
    <p:extLst>
      <p:ext uri="{BB962C8B-B14F-4D97-AF65-F5344CB8AC3E}">
        <p14:creationId xmlns:p14="http://schemas.microsoft.com/office/powerpoint/2010/main" val="131159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9B6AC-9E99-4861-AD84-79448751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Результаты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F844D-761A-4A6C-A0A3-A63CF9CD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08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576F2-6626-4AFC-BB72-1799B9F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766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E4A7F-95CE-4A42-8426-CA2E3F6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автоматических тестов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69B84-A816-45D2-B6BC-5F06200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766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6DF20-B623-4363-91D5-E49D6BC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сценариев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8BD1C-DFD6-4C3F-A60D-69C4370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766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65,9 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44331-A160-4776-BA10-5ADFB3E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сборка без кеша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4D3C5-09D7-4A3E-862E-1C5B795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Миграции с нуля и сохранение данных после перезапуска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98F19-172E-4636-9430-6419106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Подпись MAX, права владельца, версии и повторные события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3B945-E719-4F26-8D44-1ACDC72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10 локальных HTTPS-проверок, экраны 390 и 1440 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556C1-B346-4A89-906D-D165E161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Лимит задания: 5 минут без первоначальной загрузки базовых образов.</a:t>
            </a:r>
          </a:p>
        </p:txBody>
      </p:sp>
    </p:spTree>
    <p:extLst>
      <p:ext uri="{BB962C8B-B14F-4D97-AF65-F5344CB8AC3E}">
        <p14:creationId xmlns:p14="http://schemas.microsoft.com/office/powerpoint/2010/main" val="1188718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57E66-53F2-4C7B-BC6C-83B219DF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Что ещё мешает сдаче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79E12-69C2-42E1-84DF-FE330C4F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09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3E1B9-0F3F-4579-808E-59A2252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Нет живого запуска в MAX и публичного HTTPS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DCEAD-E1BF-4CC6-B012-E588664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Мобильный и веб-MAX фактически не проверены.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05EF0-B454-452C-931B-C23C25D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Реальные меры требуют завершения юридической проверки.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49AF0-AFA5-490C-A18E-26AB4B4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Нет пилота и измеренного эффекта для пользователей.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65C79-8A34-4A66-BAC2-8DA22D25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7A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7A29"/>
                </a:solidFill>
                <a:latin typeface="Arial"/>
                <a:ea typeface="Arial"/>
                <a:cs typeface="Arial"/>
              </a:rPr>
              <a:t>Следующий обязательный шаг: разрешённое размещение,</a:t>
            </a:r>
          </a:p>
          <a:p xmlns:a="http://schemas.openxmlformats.org/drawingml/2006/main">
            <a:pPr>
              <a:defRPr sz="2175" b="1">
                <a:solidFill>
                  <a:srgbClr val="AF7A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7A29"/>
                </a:solidFill>
                <a:latin typeface="Arial"/>
                <a:ea typeface="Arial"/>
                <a:cs typeface="Arial"/>
              </a:rPr>
              <a:t>настройка MAX и проверка обеих версий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25184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3280-9566-4923-A01C-E6EA99B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План пилота и ожидаемый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78F53-CDA0-4E28-BAAA-C5766867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10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B67CE-D1B7-4A43-AAB8-849C3166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08DCB-7121-4300-AD82-29EED5C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90537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Объяснения условий и сохранённый список документов сократят повторный поиск и пропуски при подготовке.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D7822-AE6C-420A-A9E1-EDD7B61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Как проверять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A63A1-D232-40F8-AA11-32F967F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Время до подходящего варианта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9C206-503B-49D2-AF5E-CB89715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Доля завершивших основной путь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EFB52-3AF0-43DC-9D03-552C470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Ошибки относительно проверки эксперта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A8FC0-B1B4-4B62-BE89-F21F27E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Первый сегмент: небольшая группа КФХ Саратовской области после готовности каталога и MAX.</a:t>
            </a:r>
          </a:p>
        </p:txBody>
      </p:sp>
    </p:spTree>
    <p:extLst>
      <p:ext uri="{BB962C8B-B14F-4D97-AF65-F5344CB8AC3E}">
        <p14:creationId xmlns:p14="http://schemas.microsoft.com/office/powerpoint/2010/main" val="2104521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33CFC-4CD5-4B01-B961-74F1F9EA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Расширение на другой регион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88496-C029-441A-A8A3-741884C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11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53380-691E-476A-8A4A-9C3B571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Сохраняем ядро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1ECE0-2D30-4413-84A8-745D423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Модель версий и отборов</a:t>
            </a:r>
          </a:p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Движок PASS / FAIL / UNKNOWN</a:t>
            </a:r>
          </a:p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Личный план и роли пользователей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749BF-E82C-4F79-89D7-E345D10F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811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Меняем региональную часть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7E15C-94EE-40AE-9814-9F53A8CA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50482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Первоисточники и местные условия</a:t>
            </a:r>
          </a:p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Справочники и тексты интерфейса</a:t>
            </a:r>
          </a:p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Каналы подачи и редакторскую проверку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B0699-8E5A-4B16-A344-37E7FACF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Порядок: исследование Пензенской области, черновики, проверка экспертом, ограниченный пилот. Это предложение.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1818749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764BE-4CDC-471C-924A-2CF4A38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9E5CF-44D2-4EF3-8238-9424C99D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12     ОПОРА АПК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C25A9-75C9-432F-AC29-5199EB8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Задание «Эффективный бизнес», страницы 5–13, 18–20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FB704-CFB0-4D61-A0FD-EA08C094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Минсельхоз Саратовской области: minagro.saratov.gov.ru/subsidii/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11A33-E49B-40B0-A110-2BE288AC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MAX: dev.max.ru/docs/webapps/validation и /bridge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C8261-FCB5-4D1F-BCF1-0AAF584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MAX API: dev.max.ru/docs-api/changelog-api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B11C5-3A87-49ED-A417-D49A6E7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Реестр источников и испытания: документы в комплекте проекта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3FBD0-9718-4EAA-9502-E4DBA73A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78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E"/>
                </a:solidFill>
                <a:latin typeface="Arial"/>
                <a:ea typeface="Arial"/>
                <a:cs typeface="Arial"/>
              </a:rPr>
              <a:t>Интервью, партнёры, статистика спроса и результаты пилота не заявляются.</a:t>
            </a:r>
          </a:p>
        </p:txBody>
      </p:sp>
    </p:spTree>
    <p:extLst>
      <p:ext uri="{BB962C8B-B14F-4D97-AF65-F5344CB8AC3E}">
        <p14:creationId xmlns:p14="http://schemas.microsoft.com/office/powerpoint/2010/main" val="1535477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2026-09-18T19:33:36.0820000Z</dcterms:created>
  <dcterms:modified xsi:type="dcterms:W3CDTF">2026-09-18T19:33:36.0830000Z</dcterms:modified>
</coreProperties>
</file>